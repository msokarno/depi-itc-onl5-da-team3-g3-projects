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  <p:embeddedFont>
      <p:font typeface="Noto Serif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5.png"/><Relationship Id="rId8" Type="http://schemas.openxmlformats.org/officeDocument/2006/relationships/image" Target="../media/image-4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475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Olist Brazilian E-Commerce Data Analysis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284585"/>
            <a:ext cx="10868745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comprehensive data engineering and analytics project by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DEPI, ITC Online Group 3, Team 3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From raw Kaggle dataset to interactive Power BI dashboard analyzing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A9F00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96.5K orders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across Brazil — January 2017 through August 2018.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2006203"/>
            <a:ext cx="5343491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96.5K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61425" y="2704306"/>
            <a:ext cx="534349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Orders Analyzed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86630" y="2006203"/>
            <a:ext cx="5343590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93.4K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186630" y="2704306"/>
            <a:ext cx="534359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Unique Customers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1475" y="3314700"/>
            <a:ext cx="5343491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15.4M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61425" y="4012803"/>
            <a:ext cx="534349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Total Revenue (BRL)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86630" y="3314700"/>
            <a:ext cx="5343590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86630" y="4012803"/>
            <a:ext cx="534359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Core DB Tables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1475" y="4418509"/>
            <a:ext cx="5361647" cy="892373"/>
          </a:xfrm>
          <a:prstGeom prst="roundRect">
            <a:avLst>
              <a:gd name="adj" fmla="val 1563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801" y="4579838"/>
            <a:ext cx="503899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801" y="4909245"/>
            <a:ext cx="5038996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Normalized 4-table SQL schema from 9-table source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8474" y="4418509"/>
            <a:ext cx="5361746" cy="892373"/>
          </a:xfrm>
          <a:prstGeom prst="roundRect">
            <a:avLst>
              <a:gd name="adj" fmla="val 1563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9799" y="4579838"/>
            <a:ext cx="503909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 Engineering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9799" y="4909245"/>
            <a:ext cx="5039095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 ETL pipeline with UTF-8 encoding and validation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1475" y="5456238"/>
            <a:ext cx="5361647" cy="892373"/>
          </a:xfrm>
          <a:prstGeom prst="roundRect">
            <a:avLst>
              <a:gd name="adj" fmla="val 1563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801" y="5617567"/>
            <a:ext cx="503899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801" y="5946973"/>
            <a:ext cx="5038996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15+ DAX measures across 3 analytical pages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8474" y="5456238"/>
            <a:ext cx="5361746" cy="892373"/>
          </a:xfrm>
          <a:prstGeom prst="roundRect">
            <a:avLst>
              <a:gd name="adj" fmla="val 1563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9799" y="5617567"/>
            <a:ext cx="503909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Analytical Insights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29799" y="5946973"/>
            <a:ext cx="5039095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Revenue, customer retention, and delivery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2373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Objective &amp; Dataset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549857" y="1186755"/>
            <a:ext cx="5468503" cy="5186859"/>
          </a:xfrm>
          <a:prstGeom prst="roundRect">
            <a:avLst>
              <a:gd name="adj" fmla="val 4305"/>
            </a:avLst>
          </a:prstGeom>
          <a:solidFill>
            <a:srgbClr val="54780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4832" y="1347741"/>
            <a:ext cx="515855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Primary Goal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4832" y="1719659"/>
            <a:ext cx="5158551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Transform raw e-commerce data into a structured relational database and build an interactive Power BI dashboard to analyze sales performance, customer behavior, and delivery operations across Brazil.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4832" y="2601569"/>
            <a:ext cx="515855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Scope of 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832" y="2973487"/>
            <a:ext cx="5158551" cy="1113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Database design and normalization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cleaning and ETL pipeline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 BI measures and dashboard development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Insights on revenue, customer patterns, and delivery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91304" y="1347741"/>
            <a:ext cx="524526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Dataset: Olist Brazilian E-Commerce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1304" y="1719659"/>
            <a:ext cx="5245266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Sourced from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Kaggle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 public dataset covering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100K orders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 full order lifecycle data including customers, orders, items, products, payments, and geographic dimensions across multiple Brazilian states.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91304" y="2601569"/>
            <a:ext cx="524526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Why This Dataset?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1304" y="2991644"/>
            <a:ext cx="5245266" cy="9759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41527" y="3165673"/>
            <a:ext cx="4821018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Complete Lifecycle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41527" y="3553222"/>
            <a:ext cx="4821018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Purchase → payment → delivery → review captured end-to-end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1304" y="4112915"/>
            <a:ext cx="5245266" cy="9759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41527" y="4286945"/>
            <a:ext cx="4821018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Geographic Depth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41527" y="4674493"/>
            <a:ext cx="4821018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State and city-level data enabling regional performance analysis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1304" y="5234186"/>
            <a:ext cx="5245266" cy="9759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1527" y="5408216"/>
            <a:ext cx="4821018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Temporal Range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41527" y="5795764"/>
            <a:ext cx="4821018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20-month window (Jan 2017–Aug 2018) supporting trend analysis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9643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 Discovery &amp; Database Design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155926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Original Dataset — Chen ERD (9 Tables)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445716"/>
            <a:ext cx="5276817" cy="55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source schema comprised 9 interconnected tables: Customers, Orders, Order Items, Products, Payments, Reviews, Sellers, and Geolocation — representing the full operational data model of the Olist marketplace.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1375"/>
            <a:ext cx="5276817" cy="23006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9753" y="1155926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Target Analytics Schema (4 Tables)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59753" y="1445716"/>
            <a:ext cx="5276817" cy="55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Optimized for analytical queries by selecting the 4 core tables: </a:t>
            </a:r>
            <a:pPr algn="l" indent="0" marL="0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Customers, Orders, Order_items, Products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Key design decision: 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A9F00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payment_installments converted from numeric to Boolean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reduce redundancy and simplify aggregation logic.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753" y="2111375"/>
            <a:ext cx="5276817" cy="341868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59753" y="5643563"/>
            <a:ext cx="5276817" cy="614164"/>
          </a:xfrm>
          <a:prstGeom prst="roundRect">
            <a:avLst>
              <a:gd name="adj" fmla="val 18935"/>
            </a:avLst>
          </a:prstGeom>
          <a:solidFill>
            <a:srgbClr val="CCFFE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932" y="5796955"/>
            <a:ext cx="161425" cy="1291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79537" y="5766594"/>
            <a:ext cx="4727854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Trade-off: Simplified schema improves query performance but excludes seller, review, and geolocation granularity from the analytical layer.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046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 Cleaning &amp; SQL Implementation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77156"/>
            <a:ext cx="5361647" cy="22466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26017" y="1480245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35500" y="2006699"/>
            <a:ext cx="501359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Cleaning Operations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5500" y="2336105"/>
            <a:ext cx="5013596" cy="1113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Removed empty rows and duplicate records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Converted all text fields to 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UTF-8 encoding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Standardized column names and corrected data types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Flagged suspicious records for manual review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8474" y="1377156"/>
            <a:ext cx="5361746" cy="22466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3016" y="1480245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342499" y="2006699"/>
            <a:ext cx="501369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Relational Validation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342499" y="2336105"/>
            <a:ext cx="5013696" cy="1113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Verified referential integrity: orders → customers, items → products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Checked date consistency across order lifecycle fields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Validated payment totals against line-item sums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Confirmed geographic accuracy of state/city codes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69122"/>
            <a:ext cx="5361647" cy="24869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26017" y="3872210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835500" y="4398665"/>
            <a:ext cx="501359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SQL Schema Design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35500" y="4728071"/>
            <a:ext cx="5013596" cy="1353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Four normalized tables with 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KEY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FOREIGN KEY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constraints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 NULL</a:t>
            </a:r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constraints on critical fields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 notebooks for ETL with parameterized queries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pipeline from raw CSV to loaded database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8474" y="3769122"/>
            <a:ext cx="5361746" cy="24869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33016" y="3872210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342499" y="4398665"/>
            <a:ext cx="501369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Core Lesson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342499" y="4728071"/>
            <a:ext cx="5013696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quality requires validating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relationships between tables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consistency across temporal and geographic dimensions — not just cleaning individual cells in isolation.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26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 Measures &amp; Calendar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1474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Calendar Dimension Table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823740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continuous date dimension spanning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Jan 2017 – Aug 2018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was constructed to enable time-based slicing and aggregations. Attributes include Year, Month, Quarter, and Day of Week — essential for time-intelligence functions in DAX.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06227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Core KPI Measures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3492004"/>
            <a:ext cx="2533686" cy="1296293"/>
          </a:xfrm>
          <a:prstGeom prst="roundRect">
            <a:avLst>
              <a:gd name="adj" fmla="val 1148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3119" y="3663652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Revenue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3119" y="4087416"/>
            <a:ext cx="21903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Total, Product Sales, Freight Value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0455" y="3492004"/>
            <a:ext cx="2533686" cy="1296293"/>
          </a:xfrm>
          <a:prstGeom prst="roundRect">
            <a:avLst>
              <a:gd name="adj" fmla="val 1148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2099" y="3663652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Volume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32099" y="4087416"/>
            <a:ext cx="21903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Delivered Orders, Units Sold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953595"/>
            <a:ext cx="5232666" cy="1031677"/>
          </a:xfrm>
          <a:prstGeom prst="roundRect">
            <a:avLst>
              <a:gd name="adj" fmla="val 1442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119" y="5125244"/>
            <a:ext cx="48893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3119" y="5549007"/>
            <a:ext cx="488937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Unique Customers, Avg Order Value, Revenue per Customer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3904" y="141474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Advanced &amp; Time-Intelligence Measures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5914" y="1849537"/>
            <a:ext cx="248041" cy="24804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41259" y="1844477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YTD Sales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41259" y="2268240"/>
            <a:ext cx="469531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Year-to-date cumulative revenue using DATESYTD</a:t>
            </a:r>
            <a:endParaRPr lang="en-US" sz="13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914" y="2868613"/>
            <a:ext cx="248041" cy="2480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41259" y="2863552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Month-over-Month %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841259" y="3287316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MoM growth with guard clause for low-volume periods to prevent misleading spikes</a:t>
            </a:r>
            <a:endParaRPr lang="en-US" sz="1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5914" y="4152305"/>
            <a:ext cx="248041" cy="24804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41259" y="4147245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Delivery Performance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841259" y="4571008"/>
            <a:ext cx="469531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Average Delivery Days, Late Delivery Rate, On-Time Rate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303904" y="5021659"/>
            <a:ext cx="5232666" cy="1180405"/>
          </a:xfrm>
          <a:prstGeom prst="roundRect">
            <a:avLst>
              <a:gd name="adj" fmla="val 12610"/>
            </a:avLst>
          </a:prstGeom>
          <a:solidFill>
            <a:srgbClr val="CCFFE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9198" y="5267722"/>
            <a:ext cx="206667" cy="16529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41160" y="5211762"/>
            <a:ext cx="4530116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logic: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Unique customers use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D8EC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customer_unique_id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repeat customers defined as those with more than 1 order on record.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1979"/>
            <a:ext cx="10868745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 Dashboard: Executive Overview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86817"/>
            <a:ext cx="330192" cy="273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74465"/>
            <a:ext cx="5397960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15.4M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661425" y="1691184"/>
            <a:ext cx="5397960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Total Revenue (BRL)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61475" y="1879501"/>
            <a:ext cx="5397960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13.2M product + 2.2M freight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132260" y="1274465"/>
            <a:ext cx="5397960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96.5K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132260" y="1691184"/>
            <a:ext cx="5397960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Delivered Orders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1475" y="2170311"/>
            <a:ext cx="5397960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93.4K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61475" y="2587030"/>
            <a:ext cx="5397960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32260" y="2170311"/>
            <a:ext cx="5397960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137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132210" y="2587030"/>
            <a:ext cx="5397960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Avg Order Value (BRL)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1475" y="2873511"/>
            <a:ext cx="3462846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Monthly Revenue Trend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1475" y="3079503"/>
            <a:ext cx="3462846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Growth from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0.1M (Jan 2017)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a peak of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1.2M (Nov 2017)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then stabilizing at approximately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1.0M/month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through Aug 2018 — indicating market maturation after initial rapid growth.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70179" y="2873511"/>
            <a:ext cx="3462846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Payment Methods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179" y="3083223"/>
            <a:ext cx="3462846" cy="306814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78883" y="2873511"/>
            <a:ext cx="3462846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Geographic Concentration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883" y="3083223"/>
            <a:ext cx="3462846" cy="306814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78883" y="6220570"/>
            <a:ext cx="4072431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 3 states (SP, RJ, MG) account for approximately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60%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total revenue.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9586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Products &amp; Customers Page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95933"/>
            <a:ext cx="8642134" cy="3067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56488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Product KPIs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661475" y="4126309"/>
            <a:ext cx="2646098" cy="447576"/>
          </a:xfrm>
          <a:prstGeom prst="roundRect">
            <a:avLst>
              <a:gd name="adj" fmla="val 1662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0472" y="4215309"/>
            <a:ext cx="246810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74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50472" y="4385766"/>
            <a:ext cx="2468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categories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348847" y="4126309"/>
            <a:ext cx="2646197" cy="447576"/>
          </a:xfrm>
          <a:prstGeom prst="roundRect">
            <a:avLst>
              <a:gd name="adj" fmla="val 1662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37844" y="4215309"/>
            <a:ext cx="246820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110K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37844" y="4385766"/>
            <a:ext cx="2468203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Units sold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61475" y="4626116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Top 5 Revenue Categories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4795937"/>
            <a:ext cx="5333569" cy="38391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1475" y="8683848"/>
            <a:ext cx="594315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 5 categories account for approximately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39%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total revenue.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6203001" y="3956488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Customer KPIs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203001" y="4167584"/>
            <a:ext cx="5333569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165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202951" y="4512766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Revenue / Customer (BRL)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203001" y="4765873"/>
            <a:ext cx="5333569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3%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6203001" y="5111055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Repeat Customer Rate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203001" y="5292469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Geographic Customer Concentration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203001" y="5459437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São Paulo city alone accounts for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15.5K customers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The top 10 cities represent approximately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45%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the entire customer base — mirroring the revenue concentration pattern observed at the state level.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6203001" y="5701804"/>
            <a:ext cx="5333569" cy="313928"/>
          </a:xfrm>
          <a:prstGeom prst="roundRect">
            <a:avLst>
              <a:gd name="adj" fmla="val 23708"/>
            </a:avLst>
          </a:prstGeom>
          <a:solidFill>
            <a:srgbClr val="CCFFE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648" y="5767586"/>
            <a:ext cx="103284" cy="826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71580" y="5761955"/>
            <a:ext cx="4982343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Strategic insight: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3% repeat rate signals a predominantly transactional customer base. Retention programs targeting high-value segments could materially improve lifetime value metrics.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9586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Operations &amp; Delivery Page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95933"/>
            <a:ext cx="8915177" cy="304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31642"/>
            <a:ext cx="5408576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12.6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61425" y="4276824"/>
            <a:ext cx="540857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Avg Delivery Days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121644" y="3931642"/>
            <a:ext cx="5408576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91.9%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121594" y="4276824"/>
            <a:ext cx="540857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On-Time Rate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61475" y="4529931"/>
            <a:ext cx="5408576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8.1%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61425" y="4875113"/>
            <a:ext cx="540857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Late Delivery Rate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21644" y="4529931"/>
            <a:ext cx="5408576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7.8K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121594" y="4875113"/>
            <a:ext cx="540857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Late Orders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61475" y="5097802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Geographic Delivery Disparity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61475" y="5264770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Remote municipalities exhibit extreme delivery delays relative to urban centers. Observed outliers include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Novo Brasil (148 days)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Capinzal do Norte (109 days)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likely reflecting last-mile logistics constraints in underserved regions rather than systemic carrier failure.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661475" y="5507137"/>
            <a:ext cx="5333569" cy="313928"/>
          </a:xfrm>
          <a:prstGeom prst="roundRect">
            <a:avLst>
              <a:gd name="adj" fmla="val 23708"/>
            </a:avLst>
          </a:prstGeom>
          <a:solidFill>
            <a:srgbClr val="FCF2B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2" y="5572919"/>
            <a:ext cx="103284" cy="826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30053" y="5567288"/>
            <a:ext cx="4982343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Small municipalities with few orders produce statistically unreliable averages. A minimum sample threshold of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≥10 orders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is recommended before drawing operational conclusions.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6203001" y="5097802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Late-Delivery Hotspots</a:t>
            </a:r>
            <a:endParaRPr lang="en-US" sz="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001" y="5267623"/>
            <a:ext cx="5333569" cy="383917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03001" y="9155534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These urban hotspots suggest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carrier or logistics challenges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rather than geographic remoteness. Late delivery may also reflect inaccurate delivery estimates or address data issues — causality requires further investigation.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3133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Findings &amp;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208145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Descriptive Findings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46423"/>
            <a:ext cx="5264217" cy="1064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221" y="1704975"/>
            <a:ext cx="487092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Revenue Concentration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96221" y="2040632"/>
            <a:ext cx="4870923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São Paulo =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38% of revenue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Geographic diversification could reduce concentration risk and unlock growth in underserved states.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28615"/>
            <a:ext cx="5264217" cy="1064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221" y="2887166"/>
            <a:ext cx="487092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Customer Dynamics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96221" y="3222823"/>
            <a:ext cx="4870923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93.4K unique customers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3% repeat rate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avg order value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137 BRL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Low loyalty signals a retention opportunity — not a confirmed churn problem.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10806"/>
            <a:ext cx="5264217" cy="1064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6221" y="4069358"/>
            <a:ext cx="487092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Delivery Performance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96221" y="4405015"/>
            <a:ext cx="4870923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91.9% on-time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overall, but extreme geographic variation. Late delivery ≠ carrier fault; may reflect inaccurate estimates or address data quality issues.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272353" y="1208145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Analytical Limitations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703944" y="1594346"/>
            <a:ext cx="4832626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Scope Reduction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703944" y="1930003"/>
            <a:ext cx="4832626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 of 9 source tables selected; seller, review, and geolocation data excluded from the analytical layer.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703944" y="2625130"/>
            <a:ext cx="4832626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Boolean Conversion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703944" y="2960787"/>
            <a:ext cx="4832626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highlight>
                  <a:srgbClr val="D8EC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payment_installments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converted from numeric to Boolean — installment-count granularity is lost.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703944" y="3655913"/>
            <a:ext cx="4832626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Small-Sample Bias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703944" y="3991570"/>
            <a:ext cx="4832626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Niche categories and small municipalities produce unreliable averages; minimum thresholds required.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703944" y="4686697"/>
            <a:ext cx="4832626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Identity Accuracy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703944" y="5022354"/>
            <a:ext cx="4832626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Repeat-customer definition depends on 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highlight>
                  <a:srgbClr val="D8EC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customer_unique_id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accuracy — unverifiable from public data.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72353" y="5566569"/>
            <a:ext cx="5264217" cy="693341"/>
          </a:xfrm>
          <a:prstGeom prst="roundRect">
            <a:avLst>
              <a:gd name="adj" fmla="val 18114"/>
            </a:avLst>
          </a:prstGeom>
          <a:solidFill>
            <a:srgbClr val="CCFFE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851" y="5749330"/>
            <a:ext cx="174422" cy="1395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25772" y="5707360"/>
            <a:ext cx="4671300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findings are descriptive observations and hypotheses. No causal relationships are claimed without further controlled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305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Team Contributions &amp; Deliverables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661475" y="1112143"/>
            <a:ext cx="3558292" cy="1338759"/>
          </a:xfrm>
          <a:prstGeom prst="roundRect">
            <a:avLst>
              <a:gd name="adj" fmla="val 851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4425" y="1245096"/>
            <a:ext cx="32923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Mohamed Sokarno 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i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(Lead)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4425" y="1500981"/>
            <a:ext cx="3292393" cy="816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Dataset discovery and selection</a:t>
            </a:r>
            <a:endParaRPr lang="en-US" sz="950" dirty="0"/>
          </a:p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 schema design and data loading</a:t>
            </a:r>
            <a:endParaRPr lang="en-US" sz="950" dirty="0"/>
          </a:p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UTF-8 encoding resolution</a:t>
            </a:r>
            <a:endParaRPr lang="en-US" sz="950" dirty="0"/>
          </a:p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review and documentation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16701" y="1112143"/>
            <a:ext cx="3558292" cy="1338759"/>
          </a:xfrm>
          <a:prstGeom prst="roundRect">
            <a:avLst>
              <a:gd name="adj" fmla="val 851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9651" y="1245096"/>
            <a:ext cx="32923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Mahmoud Al-Nabawi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9651" y="1500981"/>
            <a:ext cx="3292393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 ERD in Chen notation</a:t>
            </a:r>
            <a:endParaRPr lang="en-US" sz="950" dirty="0"/>
          </a:p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dictionary compilation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971928" y="1112143"/>
            <a:ext cx="3558292" cy="1338759"/>
          </a:xfrm>
          <a:prstGeom prst="roundRect">
            <a:avLst>
              <a:gd name="adj" fmla="val 851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04878" y="1245096"/>
            <a:ext cx="32923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Mohamed El-Gml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04878" y="1500981"/>
            <a:ext cx="3292393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 data cleaning and preparation</a:t>
            </a:r>
            <a:endParaRPr lang="en-US" sz="950" dirty="0"/>
          </a:p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ETL notebook development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1475" y="2547838"/>
            <a:ext cx="5385856" cy="1126034"/>
          </a:xfrm>
          <a:prstGeom prst="roundRect">
            <a:avLst>
              <a:gd name="adj" fmla="val 1012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4425" y="2680791"/>
            <a:ext cx="51199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Mahmoud Saqr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4425" y="2936677"/>
            <a:ext cx="5119956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Calendar table construction</a:t>
            </a:r>
            <a:endParaRPr lang="en-US" sz="950" dirty="0"/>
          </a:p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15+ Power BI KPI measures</a:t>
            </a:r>
            <a:endParaRPr lang="en-US" sz="950" dirty="0"/>
          </a:p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Time-intelligence DAX functions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4265" y="2547838"/>
            <a:ext cx="5385955" cy="1126034"/>
          </a:xfrm>
          <a:prstGeom prst="roundRect">
            <a:avLst>
              <a:gd name="adj" fmla="val 1012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7215" y="2680791"/>
            <a:ext cx="51200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Mostafa Salem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7215" y="2936677"/>
            <a:ext cx="5120056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Four-page Power BI dashboard</a:t>
            </a:r>
            <a:endParaRPr lang="en-US" sz="950" dirty="0"/>
          </a:p>
          <a:p>
            <a:pPr algn="l" marL="193040" indent="-19304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Executive Overview, Products &amp; Customers, Operations &amp; Delivery pages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1475" y="3833262"/>
            <a:ext cx="1086874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Deliverables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1475" y="4162326"/>
            <a:ext cx="5385856" cy="379809"/>
          </a:xfrm>
          <a:prstGeom prst="roundRect">
            <a:avLst>
              <a:gd name="adj" fmla="val 4999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9453" y="4257179"/>
            <a:ext cx="189900" cy="18990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8075" y="4639072"/>
            <a:ext cx="51326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SQL Database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88075" y="4894957"/>
            <a:ext cx="5132656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96.5K orders, 93.4K customers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44265" y="4162326"/>
            <a:ext cx="5385955" cy="379809"/>
          </a:xfrm>
          <a:prstGeom prst="roundRect">
            <a:avLst>
              <a:gd name="adj" fmla="val 4999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42243" y="4257179"/>
            <a:ext cx="189900" cy="18990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270865" y="4639072"/>
            <a:ext cx="513275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Python ETL Pipeline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270865" y="4894957"/>
            <a:ext cx="5132755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cleaning and loading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61475" y="5297289"/>
            <a:ext cx="5385856" cy="379809"/>
          </a:xfrm>
          <a:prstGeom prst="roundRect">
            <a:avLst>
              <a:gd name="adj" fmla="val 4999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9453" y="5392142"/>
            <a:ext cx="189900" cy="18990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88075" y="5774035"/>
            <a:ext cx="51326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788075" y="6029920"/>
            <a:ext cx="5132656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 analytical pages, 15+ measures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144265" y="5297289"/>
            <a:ext cx="5385955" cy="379809"/>
          </a:xfrm>
          <a:prstGeom prst="roundRect">
            <a:avLst>
              <a:gd name="adj" fmla="val 4999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2243" y="5392142"/>
            <a:ext cx="189900" cy="18990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270865" y="5774035"/>
            <a:ext cx="513275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270865" y="6029920"/>
            <a:ext cx="5132755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ERD, data dictionary, insights report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90568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Thank you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372040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&amp; Questions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2026-10-19T14:11:48Z</dcterms:created>
  <dcterms:modified xsi:type="dcterms:W3CDTF">2026-10-19T14:11:48Z</dcterms:modified>
</cp:coreProperties>
</file>